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257" r:id="rId3"/>
    <p:sldId id="25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307" r:id="rId12"/>
    <p:sldId id="308" r:id="rId13"/>
    <p:sldId id="286" r:id="rId14"/>
    <p:sldId id="287" r:id="rId15"/>
    <p:sldId id="289" r:id="rId16"/>
    <p:sldId id="293" r:id="rId17"/>
    <p:sldId id="295" r:id="rId18"/>
    <p:sldId id="297" r:id="rId19"/>
    <p:sldId id="309" r:id="rId20"/>
    <p:sldId id="310" r:id="rId21"/>
    <p:sldId id="311" r:id="rId22"/>
    <p:sldId id="312" r:id="rId23"/>
    <p:sldId id="306" r:id="rId24"/>
    <p:sldId id="272" r:id="rId25"/>
  </p:sldIdLst>
  <p:sldSz cx="9144000" cy="6858000" type="screen4x3"/>
  <p:notesSz cx="6858000" cy="9144000"/>
  <p:custDataLst>
    <p:tags r:id="rId28"/>
  </p:custDataLst>
  <p:defaultTextStyle>
    <a:defPPr>
      <a:defRPr lang="en-US"/>
    </a:defPPr>
    <a:lvl1pPr marL="0" lvl="0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lvl="1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lvl="2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lvl="3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lvl="4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lvl="5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lvl="6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lvl="7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lvl="8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99"/>
    <a:srgbClr val="FF3300"/>
    <a:srgbClr val="996633"/>
    <a:srgbClr val="FFFF00"/>
    <a:srgbClr val="CC3300"/>
    <a:srgbClr val="99CC00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20"/>
    <p:restoredTop sz="94660"/>
  </p:normalViewPr>
  <p:slideViewPr>
    <p:cSldViewPr showGuides="1">
      <p:cViewPr varScale="1">
        <p:scale>
          <a:sx n="65" d="100"/>
          <a:sy n="65" d="100"/>
        </p:scale>
        <p:origin x="1536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253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253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D8693551-2736-4530-ABA7-7644E748DD81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457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076" name="Rectangle 4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2458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Click to edit Master text styles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Second level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Third level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Fourth level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2458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eaLnBrk="1" hangingPunct="1">
              <a:defRPr sz="1200">
                <a:latin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458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47F41-11BD-47FE-A380-C25E00579970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5207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E74F240-C5D2-4929-BFE1-FF27D06BEB71}" type="slidenum">
              <a:rPr kumimoji="0" lang="en-US" alt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286500"/>
            <a:ext cx="9144000" cy="5715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051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896938"/>
            <a:ext cx="9144000" cy="889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35DB98C0-4620-47A8-8B57-AE0CCA741EBB}" type="slidenum">
              <a:rPr kumimoji="0" lang="en-US" alt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E74F240-C5D2-4929-BFE1-FF27D06BEB71}" type="slidenum">
              <a:rPr kumimoji="0" lang="en-US" alt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E74F240-C5D2-4929-BFE1-FF27D06BEB71}" type="slidenum">
              <a:rPr kumimoji="0" lang="en-US" alt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E74F240-C5D2-4929-BFE1-FF27D06BEB71}" type="slidenum">
              <a:rPr kumimoji="0" lang="en-US" alt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E74F240-C5D2-4929-BFE1-FF27D06BEB71}" type="slidenum">
              <a:rPr kumimoji="0" lang="en-US" alt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E74F240-C5D2-4929-BFE1-FF27D06BEB71}" type="slidenum">
              <a:rPr kumimoji="0" lang="en-US" alt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E74F240-C5D2-4929-BFE1-FF27D06BEB71}" type="slidenum">
              <a:rPr kumimoji="0" lang="en-US" alt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vert="horz" wrap="square" lIns="91440" tIns="45720" rIns="91440" bIns="45720" numCol="1" rtlCol="0" anchor="t" anchorCtr="0" compatLnSpc="1">
            <a:normAutofit/>
          </a:bodyPr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marL="0" marR="0" lvl="0" indent="0" algn="l" defTabSz="685800" rtl="0" eaLnBrk="0" fontAlgn="base" latinLnBrk="0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E74F240-C5D2-4929-BFE1-FF27D06BEB71}" type="slidenum">
              <a:rPr kumimoji="0" lang="en-US" alt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E74F240-C5D2-4929-BFE1-FF27D06BEB71}" type="slidenum">
              <a:rPr kumimoji="0" lang="en-US" alt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E74F240-C5D2-4929-BFE1-FF27D06BEB71}" type="slidenum">
              <a:rPr kumimoji="0" lang="en-US" alt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hangingPunct="1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hangingPunct="1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hangingPunct="1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E74F240-C5D2-4929-BFE1-FF27D06BEB71}" type="slidenum">
              <a:rPr kumimoji="0" lang="en-US" altLang="en-US" sz="9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‹#›</a:t>
            </a:fld>
            <a:endParaRPr kumimoji="0" lang="en-US" altLang="en-US" sz="9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 Light" panose="020F0302020204030204" pitchFamily="34" charset="0"/>
        </a:defRPr>
      </a:lvl2pPr>
      <a:lvl3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 Light" panose="020F0302020204030204" pitchFamily="34" charset="0"/>
        </a:defRPr>
      </a:lvl3pPr>
      <a:lvl4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 Light" panose="020F0302020204030204" pitchFamily="34" charset="0"/>
        </a:defRPr>
      </a:lvl4pPr>
      <a:lvl5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 Light" panose="020F0302020204030204" pitchFamily="34" charset="0"/>
        </a:defRPr>
      </a:lvl5pPr>
      <a:lvl6pPr marL="457200"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 Light" panose="020F0302020204030204" pitchFamily="34" charset="0"/>
        </a:defRPr>
      </a:lvl6pPr>
      <a:lvl7pPr marL="914400"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 Light" panose="020F0302020204030204" pitchFamily="34" charset="0"/>
        </a:defRPr>
      </a:lvl7pPr>
      <a:lvl8pPr marL="1371600"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 Light" panose="020F0302020204030204" pitchFamily="34" charset="0"/>
        </a:defRPr>
      </a:lvl8pPr>
      <a:lvl9pPr marL="1828800" algn="l" defTabSz="685800" rtl="0" fontAlgn="base">
        <a:lnSpc>
          <a:spcPct val="90000"/>
        </a:lnSpc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171450" indent="-171450" algn="l" defTabSz="685800" rtl="0" eaLnBrk="0" fontAlgn="base" hangingPunct="0">
        <a:lnSpc>
          <a:spcPct val="90000"/>
        </a:lnSpc>
        <a:spcBef>
          <a:spcPts val="750"/>
        </a:spcBef>
        <a:spcAft>
          <a:spcPct val="0"/>
        </a:spcAft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0" fontAlgn="base" hangingPunct="0">
        <a:lnSpc>
          <a:spcPct val="90000"/>
        </a:lnSpc>
        <a:spcBef>
          <a:spcPts val="375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0" fontAlgn="base" hangingPunct="0">
        <a:lnSpc>
          <a:spcPct val="90000"/>
        </a:lnSpc>
        <a:spcBef>
          <a:spcPts val="375"/>
        </a:spcBef>
        <a:spcAft>
          <a:spcPct val="0"/>
        </a:spcAft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0" fontAlgn="base" hangingPunct="0">
        <a:lnSpc>
          <a:spcPct val="90000"/>
        </a:lnSpc>
        <a:spcBef>
          <a:spcPts val="375"/>
        </a:spcBef>
        <a:spcAft>
          <a:spcPct val="0"/>
        </a:spcAft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0" fontAlgn="base" hangingPunct="0">
        <a:lnSpc>
          <a:spcPct val="90000"/>
        </a:lnSpc>
        <a:spcBef>
          <a:spcPts val="375"/>
        </a:spcBef>
        <a:spcAft>
          <a:spcPct val="0"/>
        </a:spcAft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6DC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6"/>
          <p:cNvSpPr txBox="1"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</p:spPr>
        <p:txBody>
          <a:bodyPr anchor="ctr" anchorCtr="0"/>
          <a:lstStyle>
            <a:lvl1pPr marL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b="0" i="0" u="none" kern="120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lvl="2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lvl="3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lvl="4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</a:lstStyle>
          <a:p>
            <a:pPr lvl="0" algn="r" eaLnBrk="1" hangingPunct="1"/>
            <a:fld id="{9A0DB2DC-4C9A-4742-B13C-FB6460FD3503}" type="slidenum">
              <a:rPr lang="en-US" altLang="en-US" sz="900" dirty="0">
                <a:solidFill>
                  <a:srgbClr val="FFFFFF"/>
                </a:solidFill>
                <a:cs typeface="Arial" panose="020B0604020202020204" pitchFamily="34" charset="0"/>
              </a:rPr>
              <a:t>1</a:t>
            </a:fld>
            <a:endParaRPr lang="en-US" altLang="en-US" sz="900" dirty="0">
              <a:solidFill>
                <a:srgbClr val="FFFFFF"/>
              </a:solidFill>
              <a:cs typeface="Arial" panose="020B0604020202020204" pitchFamily="34" charset="0"/>
            </a:endParaRPr>
          </a:p>
        </p:txBody>
      </p:sp>
      <p:sp>
        <p:nvSpPr>
          <p:cNvPr id="5124" name="AutoShape 13" descr="Kết quả hình ảnh cho ước lượng"/>
          <p:cNvSpPr>
            <a:spLocks noChangeAspect="1"/>
          </p:cNvSpPr>
          <p:nvPr/>
        </p:nvSpPr>
        <p:spPr>
          <a:xfrm>
            <a:off x="155575" y="-144462"/>
            <a:ext cx="304800" cy="3048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eaLnBrk="1" hangingPunct="1"/>
            <a:endParaRPr lang="en-US" altLang="en-US" dirty="0">
              <a:cs typeface="Arial" panose="020B0604020202020204" pitchFamily="34" charset="0"/>
            </a:endParaRPr>
          </a:p>
        </p:txBody>
      </p:sp>
      <p:sp>
        <p:nvSpPr>
          <p:cNvPr id="5125" name="AutoShape 15" descr="Kết quả hình ảnh cho ước lượng"/>
          <p:cNvSpPr>
            <a:spLocks noChangeAspect="1"/>
          </p:cNvSpPr>
          <p:nvPr/>
        </p:nvSpPr>
        <p:spPr>
          <a:xfrm>
            <a:off x="155575" y="-144462"/>
            <a:ext cx="304800" cy="3048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eaLnBrk="1" hangingPunct="1"/>
            <a:endParaRPr lang="en-US" altLang="en-US" dirty="0">
              <a:cs typeface="Arial" panose="020B0604020202020204" pitchFamily="34" charset="0"/>
            </a:endParaRPr>
          </a:p>
        </p:txBody>
      </p:sp>
      <p:sp>
        <p:nvSpPr>
          <p:cNvPr id="5126" name="AutoShape 17" descr="Kết quả hình ảnh cho ước lượng"/>
          <p:cNvSpPr>
            <a:spLocks noChangeAspect="1"/>
          </p:cNvSpPr>
          <p:nvPr/>
        </p:nvSpPr>
        <p:spPr>
          <a:xfrm>
            <a:off x="155575" y="-144462"/>
            <a:ext cx="304800" cy="3048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eaLnBrk="1" hangingPunct="1"/>
            <a:endParaRPr lang="en-US" altLang="en-US" dirty="0">
              <a:cs typeface="Arial" panose="020B0604020202020204" pitchFamily="34" charset="0"/>
            </a:endParaRPr>
          </a:p>
        </p:txBody>
      </p:sp>
      <p:sp>
        <p:nvSpPr>
          <p:cNvPr id="5127" name="AutoShape 19" descr="Kết quả hình ảnh cho ước lượng"/>
          <p:cNvSpPr>
            <a:spLocks noChangeAspect="1"/>
          </p:cNvSpPr>
          <p:nvPr/>
        </p:nvSpPr>
        <p:spPr>
          <a:xfrm>
            <a:off x="4572000" y="2584133"/>
            <a:ext cx="304800" cy="3048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eaLnBrk="1" hangingPunct="1"/>
            <a:endParaRPr lang="en-US" altLang="en-US" dirty="0">
              <a:cs typeface="Arial" panose="020B0604020202020204" pitchFamily="34" charset="0"/>
            </a:endParaRPr>
          </a:p>
        </p:txBody>
      </p:sp>
      <p:pic>
        <p:nvPicPr>
          <p:cNvPr id="5128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19800"/>
            <a:ext cx="9144000" cy="8382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Text Box 1"/>
          <p:cNvSpPr txBox="1"/>
          <p:nvPr/>
        </p:nvSpPr>
        <p:spPr>
          <a:xfrm>
            <a:off x="304800" y="228600"/>
            <a:ext cx="8534400" cy="31085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vi-VN" altLang="en-US" sz="2800" b="1" dirty="0">
                <a:effectLst/>
                <a:cs typeface="Arial" panose="020B0604020202020204" pitchFamily="34" charset="0"/>
                <a:sym typeface="+mn-ea"/>
              </a:rPr>
              <a:t> BÁO CÁO </a:t>
            </a:r>
            <a:r>
              <a:rPr lang="en-US" altLang="en-US" sz="2800" b="1" dirty="0">
                <a:effectLst/>
                <a:cs typeface="Arial" panose="020B0604020202020204" pitchFamily="34" charset="0"/>
                <a:sym typeface="+mn-ea"/>
              </a:rPr>
              <a:t>CHUYÊN NGÀNH</a:t>
            </a:r>
            <a:endParaRPr lang="en-US" altLang="en-US" sz="2800" b="1" dirty="0">
              <a:cs typeface="Arial" panose="020B0604020202020204" pitchFamily="34" charset="0"/>
              <a:sym typeface="+mn-ea"/>
            </a:endParaRPr>
          </a:p>
          <a:p>
            <a:pPr algn="ctr"/>
            <a:endParaRPr lang="en-US" altLang="en-US" sz="2800" b="1" dirty="0"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  <a:cs typeface="Arial" panose="020B0604020202020204" pitchFamily="34" charset="0"/>
              <a:sym typeface="+mn-ea"/>
            </a:endParaRPr>
          </a:p>
          <a:p>
            <a:pPr algn="ctr"/>
            <a:endParaRPr lang="vi-VN" altLang="en-US" sz="2800" b="1" dirty="0"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  <a:cs typeface="Arial" panose="020B0604020202020204" pitchFamily="34" charset="0"/>
              <a:sym typeface="+mn-ea"/>
            </a:endParaRPr>
          </a:p>
          <a:p>
            <a:pPr algn="ctr"/>
            <a:r>
              <a:rPr lang="vi-VN" altLang="en-US" sz="2800" b="1" dirty="0"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  <a:cs typeface="Arial" panose="020B0604020202020204" pitchFamily="34" charset="0"/>
                <a:sym typeface="+mn-ea"/>
              </a:rPr>
              <a:t>Đề tài</a:t>
            </a:r>
            <a:r>
              <a:rPr lang="vi-VN" altLang="en-US" sz="2800" dirty="0"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  <a:cs typeface="Arial" panose="020B0604020202020204" pitchFamily="34" charset="0"/>
                <a:sym typeface="+mn-ea"/>
              </a:rPr>
              <a:t>: </a:t>
            </a:r>
          </a:p>
          <a:p>
            <a:pPr algn="ctr"/>
            <a:r>
              <a:rPr lang="en-US" sz="2800" dirty="0"/>
              <a:t>XÂY DỰNG HỆ THỐNG GAME NHẬP VAI HÀNH ĐỘNG THỜI GIAN THỰC GÓC NHÌN TOP-DOWN SỬ DỤNG ĐỒ HỌA PIXEL ART </a:t>
            </a:r>
            <a:endParaRPr lang="en-US" altLang="vi-VN" sz="2800" dirty="0"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  <a:cs typeface="Arial" panose="020B0604020202020204" pitchFamily="34" charset="0"/>
              <a:sym typeface="+mn-ea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4876800" y="3813562"/>
            <a:ext cx="4023995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/>
            <a:r>
              <a:rPr lang="en-US" altLang="en-US" sz="1800" b="1" dirty="0">
                <a:cs typeface="Arial" panose="020B0604020202020204" pitchFamily="34" charset="0"/>
                <a:sym typeface="+mn-ea"/>
              </a:rPr>
              <a:t>Sinh viên thực hiện:</a:t>
            </a:r>
          </a:p>
          <a:p>
            <a:pPr algn="l"/>
            <a:r>
              <a:rPr lang="en-US" altLang="en-US" sz="1800" dirty="0">
                <a:cs typeface="Arial" panose="020B0604020202020204" pitchFamily="34" charset="0"/>
                <a:sym typeface="+mn-ea"/>
              </a:rPr>
              <a:t>Ngô Huỳnh Quốc Khang 110122092</a:t>
            </a:r>
          </a:p>
          <a:p>
            <a:pPr algn="l"/>
            <a:r>
              <a:rPr lang="en-US" altLang="en-US" dirty="0">
                <a:cs typeface="Arial" panose="020B0604020202020204" pitchFamily="34" charset="0"/>
                <a:sym typeface="+mn-ea"/>
              </a:rPr>
              <a:t>DA22TTD</a:t>
            </a:r>
            <a:r>
              <a:rPr lang="en-US" altLang="en-US" sz="1800" dirty="0">
                <a:cs typeface="Arial" panose="020B0604020202020204" pitchFamily="34" charset="0"/>
                <a:sym typeface="+mn-ea"/>
              </a:rPr>
              <a:t>	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838200" y="3810000"/>
            <a:ext cx="3235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altLang="en-US" b="1" dirty="0">
                <a:cs typeface="Arial" panose="020B0604020202020204" pitchFamily="34" charset="0"/>
                <a:sym typeface="+mn-ea"/>
              </a:rPr>
              <a:t>Giảng viên hướng dẫn:</a:t>
            </a:r>
            <a:r>
              <a:rPr lang="vi-VN" altLang="en-US" dirty="0">
                <a:cs typeface="Arial" panose="020B0604020202020204" pitchFamily="34" charset="0"/>
                <a:sym typeface="+mn-ea"/>
              </a:rPr>
              <a:t> </a:t>
            </a:r>
          </a:p>
          <a:p>
            <a:r>
              <a:rPr lang="vi-VN" altLang="en-US" dirty="0">
                <a:cs typeface="Arial" panose="020B0604020202020204" pitchFamily="34" charset="0"/>
                <a:sym typeface="+mn-ea"/>
              </a:rPr>
              <a:t>TS. Đoàn Phước Miền</a:t>
            </a:r>
            <a:endParaRPr lang="en-US" dirty="0"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400"/>
            <a:ext cx="7467600" cy="715963"/>
          </a:xfrm>
        </p:spPr>
        <p:txBody>
          <a:bodyPr vert="horz" wrap="square" lIns="91440" tIns="45720" rIns="91440" bIns="45720" numCol="1" rtlCol="0" anchor="ctr" anchorCtr="0" compatLnSpc="1">
            <a:normAutofit/>
          </a:bodyPr>
          <a:lstStyle/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vi-VN" alt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Nội Dung Báo Cáo</a:t>
            </a:r>
          </a:p>
        </p:txBody>
      </p:sp>
      <p:sp>
        <p:nvSpPr>
          <p:cNvPr id="6147" name="Slide Number Placeholder 3"/>
          <p:cNvSpPr txBox="1">
            <a:spLocks noGrp="1"/>
          </p:cNvSpPr>
          <p:nvPr>
            <p:ph type="sldNum" sz="quarter" idx="4"/>
          </p:nvPr>
        </p:nvSpPr>
        <p:spPr>
          <a:xfrm>
            <a:off x="6457950" y="6400800"/>
            <a:ext cx="2686050" cy="365125"/>
          </a:xfrm>
          <a:noFill/>
          <a:ln>
            <a:noFill/>
          </a:ln>
        </p:spPr>
        <p:txBody>
          <a:bodyPr anchor="ctr" anchorCtr="0"/>
          <a:lstStyle>
            <a:lvl1pPr marL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b="0" i="0" u="none" kern="120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lvl="2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lvl="3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lvl="4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</a:lstStyle>
          <a:p>
            <a:pPr lvl="0" algn="l" eaLnBrk="1" hangingPunct="1"/>
            <a:fld id="{9A0DB2DC-4C9A-4742-B13C-FB6460FD3503}" type="slidenum">
              <a:rPr lang="en-US" altLang="en-US" sz="900" dirty="0">
                <a:cs typeface="Arial" panose="020B0604020202020204" pitchFamily="34" charset="0"/>
              </a:rPr>
              <a:t>2</a:t>
            </a:fld>
            <a:endParaRPr lang="en-US" altLang="en-US" sz="900" dirty="0">
              <a:cs typeface="Arial" panose="020B0604020202020204" pitchFamily="34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228600" y="1066800"/>
            <a:ext cx="8521700" cy="500570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pPr marL="514350" indent="-514350" algn="l">
              <a:lnSpc>
                <a:spcPct val="150000"/>
              </a:lnSpc>
              <a:buAutoNum type="arabicPeriod"/>
            </a:pPr>
            <a:r>
              <a:rPr lang="en-US" altLang="en-US" sz="2800" b="1" dirty="0">
                <a:cs typeface="Arial" panose="020B0604020202020204" pitchFamily="34" charset="0"/>
              </a:rPr>
              <a:t>Lý do </a:t>
            </a:r>
            <a:r>
              <a:rPr lang="en-US" altLang="en-US" sz="2800" b="1" dirty="0" err="1">
                <a:cs typeface="Arial" panose="020B0604020202020204" pitchFamily="34" charset="0"/>
              </a:rPr>
              <a:t>chọn</a:t>
            </a:r>
            <a:r>
              <a:rPr lang="en-US" altLang="en-US" sz="2800" b="1" dirty="0">
                <a:cs typeface="Arial" panose="020B0604020202020204" pitchFamily="34" charset="0"/>
              </a:rPr>
              <a:t> </a:t>
            </a:r>
            <a:r>
              <a:rPr lang="en-US" altLang="en-US" sz="2800" b="1" dirty="0" err="1">
                <a:cs typeface="Arial" panose="020B0604020202020204" pitchFamily="34" charset="0"/>
              </a:rPr>
              <a:t>đề</a:t>
            </a:r>
            <a:r>
              <a:rPr lang="en-US" altLang="en-US" sz="2800" b="1" dirty="0">
                <a:cs typeface="Arial" panose="020B0604020202020204" pitchFamily="34" charset="0"/>
              </a:rPr>
              <a:t> </a:t>
            </a:r>
            <a:r>
              <a:rPr lang="en-US" altLang="en-US" sz="2800" b="1" dirty="0" err="1">
                <a:cs typeface="Arial" panose="020B0604020202020204" pitchFamily="34" charset="0"/>
              </a:rPr>
              <a:t>tài</a:t>
            </a:r>
            <a:endParaRPr lang="en-US" altLang="en-US" sz="2800" b="1" dirty="0">
              <a:cs typeface="Arial" panose="020B0604020202020204" pitchFamily="34" charset="0"/>
            </a:endParaRPr>
          </a:p>
          <a:p>
            <a:pPr marL="514350" indent="-514350" algn="l">
              <a:lnSpc>
                <a:spcPct val="150000"/>
              </a:lnSpc>
              <a:buAutoNum type="arabicPeriod"/>
            </a:pPr>
            <a:r>
              <a:rPr lang="en-US" altLang="en-US" sz="2800" b="1" dirty="0" err="1">
                <a:cs typeface="Arial" panose="020B0604020202020204" pitchFamily="34" charset="0"/>
              </a:rPr>
              <a:t>Mục</a:t>
            </a:r>
            <a:r>
              <a:rPr lang="en-US" altLang="en-US" sz="2800" b="1" dirty="0">
                <a:cs typeface="Arial" panose="020B0604020202020204" pitchFamily="34" charset="0"/>
              </a:rPr>
              <a:t> </a:t>
            </a:r>
            <a:r>
              <a:rPr lang="en-US" altLang="en-US" sz="2800" b="1" dirty="0" err="1">
                <a:cs typeface="Arial" panose="020B0604020202020204" pitchFamily="34" charset="0"/>
              </a:rPr>
              <a:t>tiêu</a:t>
            </a:r>
            <a:endParaRPr lang="en-US" altLang="en-US" sz="2800" b="1" dirty="0">
              <a:cs typeface="Arial" panose="020B0604020202020204" pitchFamily="34" charset="0"/>
            </a:endParaRPr>
          </a:p>
          <a:p>
            <a:pPr marL="514350" indent="-514350" algn="l">
              <a:lnSpc>
                <a:spcPct val="150000"/>
              </a:lnSpc>
              <a:buAutoNum type="arabicPeriod"/>
            </a:pPr>
            <a:r>
              <a:rPr lang="en-US" altLang="en-US" sz="2800" b="1" dirty="0" err="1">
                <a:cs typeface="Arial" panose="020B0604020202020204" pitchFamily="34" charset="0"/>
              </a:rPr>
              <a:t>Đối</a:t>
            </a:r>
            <a:r>
              <a:rPr lang="en-US" altLang="en-US" sz="2800" b="1" dirty="0">
                <a:cs typeface="Arial" panose="020B0604020202020204" pitchFamily="34" charset="0"/>
              </a:rPr>
              <a:t> </a:t>
            </a:r>
            <a:r>
              <a:rPr lang="en-US" altLang="en-US" sz="2800" b="1" dirty="0" err="1">
                <a:cs typeface="Arial" panose="020B0604020202020204" pitchFamily="34" charset="0"/>
              </a:rPr>
              <a:t>tượng</a:t>
            </a:r>
            <a:r>
              <a:rPr lang="en-US" altLang="en-US" sz="2800" b="1" dirty="0">
                <a:cs typeface="Arial" panose="020B0604020202020204" pitchFamily="34" charset="0"/>
              </a:rPr>
              <a:t> </a:t>
            </a:r>
            <a:r>
              <a:rPr lang="en-US" altLang="en-US" sz="2800" b="1" dirty="0" err="1">
                <a:cs typeface="Arial" panose="020B0604020202020204" pitchFamily="34" charset="0"/>
              </a:rPr>
              <a:t>và</a:t>
            </a:r>
            <a:r>
              <a:rPr lang="en-US" altLang="en-US" sz="2800" b="1" dirty="0">
                <a:cs typeface="Arial" panose="020B0604020202020204" pitchFamily="34" charset="0"/>
              </a:rPr>
              <a:t> </a:t>
            </a:r>
            <a:r>
              <a:rPr lang="en-US" altLang="en-US" sz="2800" b="1" dirty="0" err="1">
                <a:cs typeface="Arial" panose="020B0604020202020204" pitchFamily="34" charset="0"/>
              </a:rPr>
              <a:t>phạm</a:t>
            </a:r>
            <a:r>
              <a:rPr lang="en-US" altLang="en-US" sz="2800" b="1" dirty="0">
                <a:cs typeface="Arial" panose="020B0604020202020204" pitchFamily="34" charset="0"/>
              </a:rPr>
              <a:t> vi </a:t>
            </a:r>
            <a:r>
              <a:rPr lang="en-US" altLang="en-US" sz="2800" b="1" dirty="0" err="1">
                <a:cs typeface="Arial" panose="020B0604020202020204" pitchFamily="34" charset="0"/>
              </a:rPr>
              <a:t>nghiên</a:t>
            </a:r>
            <a:r>
              <a:rPr lang="en-US" altLang="en-US" sz="2800" b="1" dirty="0">
                <a:cs typeface="Arial" panose="020B0604020202020204" pitchFamily="34" charset="0"/>
              </a:rPr>
              <a:t> </a:t>
            </a:r>
            <a:r>
              <a:rPr lang="en-US" altLang="en-US" sz="2800" b="1" dirty="0" err="1">
                <a:cs typeface="Arial" panose="020B0604020202020204" pitchFamily="34" charset="0"/>
              </a:rPr>
              <a:t>cứu</a:t>
            </a:r>
            <a:endParaRPr lang="en-US" altLang="en-US" sz="2800" b="1" dirty="0">
              <a:cs typeface="Arial" panose="020B0604020202020204" pitchFamily="34" charset="0"/>
            </a:endParaRPr>
          </a:p>
          <a:p>
            <a:pPr marL="514350" indent="-514350" algn="l">
              <a:lnSpc>
                <a:spcPct val="150000"/>
              </a:lnSpc>
              <a:buAutoNum type="arabicPeriod"/>
            </a:pPr>
            <a:r>
              <a:rPr lang="en-US" altLang="en-US" sz="2800" b="1" dirty="0">
                <a:cs typeface="Arial" panose="020B0604020202020204" pitchFamily="34" charset="0"/>
              </a:rPr>
              <a:t>Công </a:t>
            </a:r>
            <a:r>
              <a:rPr lang="en-US" altLang="en-US" sz="2800" b="1" dirty="0" err="1">
                <a:cs typeface="Arial" panose="020B0604020202020204" pitchFamily="34" charset="0"/>
              </a:rPr>
              <a:t>nghệ</a:t>
            </a:r>
            <a:r>
              <a:rPr lang="en-US" altLang="en-US" sz="2800" b="1" dirty="0">
                <a:cs typeface="Arial" panose="020B0604020202020204" pitchFamily="34" charset="0"/>
              </a:rPr>
              <a:t> </a:t>
            </a:r>
            <a:r>
              <a:rPr lang="en-US" altLang="en-US" sz="2800" b="1" dirty="0" err="1">
                <a:cs typeface="Arial" panose="020B0604020202020204" pitchFamily="34" charset="0"/>
              </a:rPr>
              <a:t>sử</a:t>
            </a:r>
            <a:r>
              <a:rPr lang="en-US" altLang="en-US" sz="2800" b="1" dirty="0">
                <a:cs typeface="Arial" panose="020B0604020202020204" pitchFamily="34" charset="0"/>
              </a:rPr>
              <a:t> </a:t>
            </a:r>
            <a:r>
              <a:rPr lang="en-US" altLang="en-US" sz="2800" b="1" dirty="0" err="1">
                <a:cs typeface="Arial" panose="020B0604020202020204" pitchFamily="34" charset="0"/>
              </a:rPr>
              <a:t>dụng</a:t>
            </a:r>
            <a:endParaRPr lang="en-US" altLang="en-US" sz="2800" b="1" dirty="0">
              <a:cs typeface="Arial" panose="020B0604020202020204" pitchFamily="34" charset="0"/>
            </a:endParaRPr>
          </a:p>
          <a:p>
            <a:pPr marL="514350" indent="-514350" algn="l">
              <a:lnSpc>
                <a:spcPct val="150000"/>
              </a:lnSpc>
              <a:buAutoNum type="arabicPeriod"/>
            </a:pPr>
            <a:r>
              <a:rPr lang="en-US" altLang="en-US" sz="2800" b="1" dirty="0" err="1">
                <a:cs typeface="Arial" panose="020B0604020202020204" pitchFamily="34" charset="0"/>
              </a:rPr>
              <a:t>Sơ</a:t>
            </a:r>
            <a:r>
              <a:rPr lang="en-US" altLang="en-US" sz="2800" b="1" dirty="0">
                <a:cs typeface="Arial" panose="020B0604020202020204" pitchFamily="34" charset="0"/>
              </a:rPr>
              <a:t> </a:t>
            </a:r>
            <a:r>
              <a:rPr lang="en-US" altLang="en-US" sz="2800" b="1" dirty="0" err="1">
                <a:cs typeface="Arial" panose="020B0604020202020204" pitchFamily="34" charset="0"/>
              </a:rPr>
              <a:t>đồ</a:t>
            </a:r>
            <a:r>
              <a:rPr lang="en-US" altLang="en-US" sz="2800" b="1" dirty="0">
                <a:cs typeface="Arial" panose="020B0604020202020204" pitchFamily="34" charset="0"/>
              </a:rPr>
              <a:t> use case</a:t>
            </a:r>
          </a:p>
          <a:p>
            <a:pPr marL="514350" indent="-514350" algn="l">
              <a:lnSpc>
                <a:spcPct val="150000"/>
              </a:lnSpc>
              <a:buAutoNum type="arabicPeriod"/>
            </a:pPr>
            <a:r>
              <a:rPr lang="en-US" altLang="en-US" sz="2800" b="1" dirty="0" err="1">
                <a:cs typeface="Arial" panose="020B0604020202020204" pitchFamily="34" charset="0"/>
              </a:rPr>
              <a:t>Kết</a:t>
            </a:r>
            <a:r>
              <a:rPr lang="en-US" altLang="en-US" sz="2800" b="1" dirty="0">
                <a:cs typeface="Arial" panose="020B0604020202020204" pitchFamily="34" charset="0"/>
              </a:rPr>
              <a:t> </a:t>
            </a:r>
            <a:r>
              <a:rPr lang="en-US" altLang="en-US" sz="2800" b="1" dirty="0" err="1">
                <a:cs typeface="Arial" panose="020B0604020202020204" pitchFamily="34" charset="0"/>
              </a:rPr>
              <a:t>quả</a:t>
            </a:r>
            <a:endParaRPr lang="en-US" altLang="en-US" sz="2800" b="1" dirty="0">
              <a:cs typeface="Arial" panose="020B0604020202020204" pitchFamily="34" charset="0"/>
            </a:endParaRPr>
          </a:p>
          <a:p>
            <a:pPr marL="514350" indent="-514350" algn="l">
              <a:lnSpc>
                <a:spcPct val="150000"/>
              </a:lnSpc>
              <a:buAutoNum type="arabicPeriod"/>
            </a:pPr>
            <a:r>
              <a:rPr lang="en-US" altLang="en-US" sz="2800" b="1" dirty="0" err="1">
                <a:cs typeface="Arial" panose="020B0604020202020204" pitchFamily="34" charset="0"/>
                <a:sym typeface="+mn-ea"/>
              </a:rPr>
              <a:t>Hướng</a:t>
            </a:r>
            <a:r>
              <a:rPr lang="en-US" altLang="en-US" sz="2800" b="1" dirty="0">
                <a:cs typeface="Arial" panose="020B0604020202020204" pitchFamily="34" charset="0"/>
                <a:sym typeface="+mn-ea"/>
              </a:rPr>
              <a:t> </a:t>
            </a:r>
            <a:r>
              <a:rPr lang="en-US" altLang="en-US" sz="2800" b="1" dirty="0" err="1">
                <a:cs typeface="Arial" panose="020B0604020202020204" pitchFamily="34" charset="0"/>
                <a:sym typeface="+mn-ea"/>
              </a:rPr>
              <a:t>phát</a:t>
            </a:r>
            <a:r>
              <a:rPr lang="en-US" altLang="en-US" sz="2800" b="1" dirty="0">
                <a:cs typeface="Arial" panose="020B0604020202020204" pitchFamily="34" charset="0"/>
                <a:sym typeface="+mn-ea"/>
              </a:rPr>
              <a:t> </a:t>
            </a:r>
            <a:r>
              <a:rPr lang="en-US" altLang="en-US" sz="2800" b="1" dirty="0" err="1">
                <a:cs typeface="Arial" panose="020B0604020202020204" pitchFamily="34" charset="0"/>
                <a:sym typeface="+mn-ea"/>
              </a:rPr>
              <a:t>triển</a:t>
            </a:r>
            <a:endParaRPr lang="en-US" altLang="en-US" sz="2800" b="1" dirty="0">
              <a:latin typeface="Calibri" panose="020F0502020204030204" charset="0"/>
              <a:cs typeface="Calibri" panose="020F0502020204030204" charset="0"/>
            </a:endParaRPr>
          </a:p>
          <a:p>
            <a:pPr marL="514350" indent="-514350" algn="l">
              <a:buAutoNum type="arabicPeriod"/>
            </a:pPr>
            <a:endParaRPr lang="en-US" altLang="en-US" sz="2500" b="1" dirty="0">
              <a:latin typeface="Calibri" panose="020F0502020204030204" charset="0"/>
              <a:cs typeface="Calibri" panose="020F0502020204030204" charset="0"/>
            </a:endParaRPr>
          </a:p>
          <a:p>
            <a:pPr marL="514350" indent="-514350" algn="l">
              <a:buAutoNum type="arabicPeriod"/>
            </a:pPr>
            <a:endParaRPr lang="en-US" altLang="en-US" sz="2500" b="1" dirty="0">
              <a:latin typeface="Calibri" panose="020F0502020204030204" charset="0"/>
              <a:cs typeface="Calibri" panose="020F0502020204030204" charset="0"/>
            </a:endParaRPr>
          </a:p>
          <a:p>
            <a:pPr marL="514350" indent="-514350" algn="l">
              <a:buAutoNum type="arabicPeriod"/>
            </a:pPr>
            <a:endParaRPr lang="en-US" altLang="en-US" sz="2500" b="1" dirty="0">
              <a:latin typeface="Calibri" panose="020F0502020204030204" charset="0"/>
              <a:cs typeface="Calibri" panose="020F0502020204030204" charset="0"/>
              <a:sym typeface="+mn-ea"/>
            </a:endParaRPr>
          </a:p>
          <a:p>
            <a:pPr marL="514350" indent="-514350" algn="l">
              <a:buAutoNum type="arabicPeriod"/>
            </a:pPr>
            <a:endParaRPr lang="en-US" altLang="en-US" sz="2500" b="1" dirty="0">
              <a:latin typeface="Calibri" panose="020F0502020204030204" charset="0"/>
              <a:cs typeface="Calibri" panose="020F0502020204030204" charset="0"/>
            </a:endParaRPr>
          </a:p>
          <a:p>
            <a:pPr marL="514350" indent="-514350" algn="l">
              <a:buAutoNum type="arabicPeriod"/>
            </a:pPr>
            <a:endParaRPr lang="en-US" altLang="en-US" sz="2500" b="1" dirty="0">
              <a:latin typeface="Calibri" panose="020F0502020204030204" charset="0"/>
              <a:cs typeface="Calibri" panose="020F0502020204030204" charset="0"/>
            </a:endParaRPr>
          </a:p>
          <a:p>
            <a:pPr marL="514350" indent="-514350" algn="l">
              <a:buAutoNum type="arabicPeriod"/>
            </a:pPr>
            <a:endParaRPr lang="en-US" altLang="en-US" sz="2500" b="1" dirty="0">
              <a:latin typeface="Calibri" panose="020F0502020204030204" charset="0"/>
              <a:cs typeface="Calibri" panose="020F0502020204030204" charset="0"/>
            </a:endParaRPr>
          </a:p>
          <a:p>
            <a:pPr marL="514350" indent="-514350" algn="l">
              <a:buAutoNum type="arabicPeriod"/>
            </a:pPr>
            <a:endParaRPr lang="en-US" altLang="en-US" sz="2500" b="1" dirty="0">
              <a:latin typeface="Calibri" panose="020F0502020204030204" charset="0"/>
              <a:cs typeface="Calibri" panose="020F0502020204030204" charset="0"/>
            </a:endParaRPr>
          </a:p>
          <a:p>
            <a:pPr marL="514350" indent="-514350" algn="l">
              <a:buAutoNum type="arabicPeriod"/>
            </a:pPr>
            <a:endParaRPr lang="en-US" altLang="en-US" sz="2500" b="1" dirty="0">
              <a:latin typeface="Calibri" panose="020F0502020204030204" charset="0"/>
              <a:cs typeface="Calibri" panose="020F0502020204030204" charset="0"/>
            </a:endParaRPr>
          </a:p>
          <a:p>
            <a:pPr algn="l"/>
            <a:endParaRPr lang="en-US" altLang="en-US" sz="2500" b="1" dirty="0">
              <a:latin typeface="Calibri" panose="020F0502020204030204" charset="0"/>
              <a:cs typeface="Calibri" panose="020F05020202040302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400"/>
            <a:ext cx="7467600" cy="715963"/>
          </a:xfrm>
        </p:spPr>
        <p:txBody>
          <a:bodyPr vert="horz" wrap="square" lIns="91440" tIns="45720" rIns="91440" bIns="45720" numCol="1" rtlCol="0" anchor="ctr" anchorCtr="0" compatLnSpc="1">
            <a:normAutofit/>
          </a:bodyPr>
          <a:lstStyle/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vi-VN" sz="3600" b="1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1.</a:t>
            </a:r>
            <a:r>
              <a:rPr lang="en-US" altLang="en-US" sz="3600" b="1" dirty="0">
                <a:solidFill>
                  <a:srgbClr val="203864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Lý do chọn đề tài</a:t>
            </a:r>
            <a:endParaRPr kumimoji="0" lang="en-US" altLang="vi-VN" sz="36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71" name="Slide Number Placeholder 3"/>
          <p:cNvSpPr txBox="1">
            <a:spLocks noGrp="1"/>
          </p:cNvSpPr>
          <p:nvPr>
            <p:ph type="sldNum" sz="quarter" idx="4"/>
          </p:nvPr>
        </p:nvSpPr>
        <p:spPr>
          <a:xfrm>
            <a:off x="6457950" y="6400800"/>
            <a:ext cx="2686050" cy="365125"/>
          </a:xfrm>
          <a:noFill/>
          <a:ln>
            <a:noFill/>
          </a:ln>
        </p:spPr>
        <p:txBody>
          <a:bodyPr anchor="ctr" anchorCtr="0"/>
          <a:lstStyle>
            <a:lvl1pPr marL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b="0" i="0" u="none" kern="120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lvl="2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lvl="3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lvl="4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</a:lstStyle>
          <a:p>
            <a:pPr lvl="0" algn="r" eaLnBrk="1" hangingPunct="1"/>
            <a:fld id="{9A0DB2DC-4C9A-4742-B13C-FB6460FD3503}" type="slidenum">
              <a:rPr lang="en-US" altLang="en-US" sz="900" dirty="0">
                <a:cs typeface="Arial" panose="020B0604020202020204" pitchFamily="34" charset="0"/>
              </a:rPr>
              <a:t>3</a:t>
            </a:fld>
            <a:endParaRPr lang="en-US" altLang="en-US" sz="900" dirty="0">
              <a:cs typeface="Arial" panose="020B0604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62000" y="1089025"/>
            <a:ext cx="281940" cy="52197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eaLnBrk="1" hangingPunct="1">
              <a:buNone/>
            </a:pPr>
            <a:r>
              <a:rPr lang="en-US" altLang="en-US" sz="2800" b="1" dirty="0">
                <a:solidFill>
                  <a:srgbClr val="203864"/>
                </a:solidFill>
                <a:cs typeface="Arial" panose="020B0604020202020204" pitchFamily="34" charset="0"/>
                <a:sym typeface="+mn-ea"/>
              </a:rPr>
              <a:t> 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304800" y="1219200"/>
            <a:ext cx="8507730" cy="4936490"/>
          </a:xfrm>
          <a:prstGeom prst="rect">
            <a:avLst/>
          </a:prstGeom>
          <a:ln>
            <a:noFill/>
          </a:ln>
        </p:spPr>
        <p:txBody>
          <a:bodyPr wrap="square">
            <a:noAutofit/>
          </a:bodyPr>
          <a:lstStyle/>
          <a:p>
            <a:pPr marL="342900" indent="-3429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2800" dirty="0" err="1"/>
              <a:t>Áp</a:t>
            </a:r>
            <a:r>
              <a:rPr lang="en-US" sz="2800" dirty="0"/>
              <a:t> </a:t>
            </a:r>
            <a:r>
              <a:rPr lang="en-US" sz="2800" dirty="0" err="1"/>
              <a:t>dụng</a:t>
            </a:r>
            <a:r>
              <a:rPr lang="en-US" sz="2800" dirty="0"/>
              <a:t> </a:t>
            </a:r>
            <a:r>
              <a:rPr lang="en-US" sz="2800" dirty="0" err="1"/>
              <a:t>kiến</a:t>
            </a:r>
            <a:r>
              <a:rPr lang="en-US" sz="2800" dirty="0"/>
              <a:t> </a:t>
            </a:r>
            <a:r>
              <a:rPr lang="en-US" sz="2800" dirty="0" err="1"/>
              <a:t>thức</a:t>
            </a:r>
            <a:r>
              <a:rPr lang="en-US" sz="2800" dirty="0"/>
              <a:t> Godot </a:t>
            </a:r>
            <a:r>
              <a:rPr lang="en-US" sz="2800" dirty="0" err="1"/>
              <a:t>để</a:t>
            </a:r>
            <a:r>
              <a:rPr lang="en-US" sz="2800" dirty="0"/>
              <a:t> </a:t>
            </a:r>
            <a:r>
              <a:rPr lang="en-US" sz="2800" dirty="0" err="1"/>
              <a:t>xây</a:t>
            </a:r>
            <a:r>
              <a:rPr lang="en-US" sz="2800" dirty="0"/>
              <a:t> </a:t>
            </a:r>
            <a:r>
              <a:rPr lang="en-US" sz="2800" dirty="0" err="1"/>
              <a:t>dựng</a:t>
            </a:r>
            <a:r>
              <a:rPr lang="en-US" sz="2800" dirty="0"/>
              <a:t> game 2D.</a:t>
            </a:r>
          </a:p>
          <a:p>
            <a:pPr marL="342900" indent="-3429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2800" dirty="0" err="1"/>
              <a:t>Thể</a:t>
            </a:r>
            <a:r>
              <a:rPr lang="en-US" sz="2800" dirty="0"/>
              <a:t> </a:t>
            </a:r>
            <a:r>
              <a:rPr lang="en-US" sz="2800" dirty="0" err="1"/>
              <a:t>loại</a:t>
            </a:r>
            <a:r>
              <a:rPr lang="en-US" sz="2800" dirty="0"/>
              <a:t> RPG 2D pixel </a:t>
            </a:r>
            <a:r>
              <a:rPr lang="en-US" sz="2800" dirty="0" err="1"/>
              <a:t>dễ</a:t>
            </a:r>
            <a:r>
              <a:rPr lang="en-US" sz="2800" dirty="0"/>
              <a:t> </a:t>
            </a:r>
            <a:r>
              <a:rPr lang="en-US" sz="2800" dirty="0" err="1"/>
              <a:t>triển</a:t>
            </a:r>
            <a:r>
              <a:rPr lang="en-US" sz="2800" dirty="0"/>
              <a:t> </a:t>
            </a:r>
            <a:r>
              <a:rPr lang="en-US" sz="2800" dirty="0" err="1"/>
              <a:t>khai</a:t>
            </a:r>
            <a:r>
              <a:rPr lang="en-US" sz="2800" dirty="0"/>
              <a:t>.</a:t>
            </a:r>
          </a:p>
          <a:p>
            <a:pPr marL="342900" indent="-3429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Rèn </a:t>
            </a:r>
            <a:r>
              <a:rPr lang="en-US" sz="2800" dirty="0" err="1"/>
              <a:t>luyện</a:t>
            </a:r>
            <a:r>
              <a:rPr lang="en-US" sz="2800" dirty="0"/>
              <a:t> </a:t>
            </a:r>
            <a:r>
              <a:rPr lang="en-US" sz="2800" dirty="0" err="1"/>
              <a:t>kỹ</a:t>
            </a:r>
            <a:r>
              <a:rPr lang="en-US" sz="2800" dirty="0"/>
              <a:t> </a:t>
            </a:r>
            <a:r>
              <a:rPr lang="en-US" sz="2800" dirty="0" err="1"/>
              <a:t>năng</a:t>
            </a:r>
            <a:r>
              <a:rPr lang="en-US" sz="2800" dirty="0"/>
              <a:t> </a:t>
            </a:r>
            <a:r>
              <a:rPr lang="en-US" sz="2800" dirty="0" err="1"/>
              <a:t>lập</a:t>
            </a:r>
            <a:r>
              <a:rPr lang="en-US" sz="2800" dirty="0"/>
              <a:t> </a:t>
            </a:r>
            <a:r>
              <a:rPr lang="en-US" sz="2800" dirty="0" err="1"/>
              <a:t>trình</a:t>
            </a:r>
            <a:r>
              <a:rPr lang="en-US" sz="2800" dirty="0"/>
              <a:t>, </a:t>
            </a:r>
            <a:r>
              <a:rPr lang="en-US" sz="2800" dirty="0" err="1"/>
              <a:t>đồ</a:t>
            </a:r>
            <a:r>
              <a:rPr lang="en-US" sz="2800" dirty="0"/>
              <a:t> </a:t>
            </a:r>
            <a:r>
              <a:rPr lang="en-US" sz="2800" dirty="0" err="1"/>
              <a:t>họa</a:t>
            </a:r>
            <a:r>
              <a:rPr lang="en-US" sz="2800" dirty="0"/>
              <a:t>, </a:t>
            </a:r>
            <a:r>
              <a:rPr lang="en-US" sz="2800" dirty="0" err="1"/>
              <a:t>âm</a:t>
            </a:r>
            <a:r>
              <a:rPr lang="en-US" sz="2800" dirty="0"/>
              <a:t> </a:t>
            </a:r>
            <a:r>
              <a:rPr lang="en-US" sz="2800" dirty="0" err="1"/>
              <a:t>thanh</a:t>
            </a:r>
            <a:r>
              <a:rPr lang="en-US" sz="2800" dirty="0"/>
              <a:t>.</a:t>
            </a:r>
          </a:p>
          <a:p>
            <a:pPr marL="342900" indent="-3429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Phạm vi </a:t>
            </a:r>
            <a:r>
              <a:rPr lang="en-US" sz="2800" dirty="0" err="1"/>
              <a:t>vừa</a:t>
            </a:r>
            <a:r>
              <a:rPr lang="en-US" sz="2800" dirty="0"/>
              <a:t> </a:t>
            </a:r>
            <a:r>
              <a:rPr lang="en-US" sz="2800" dirty="0" err="1"/>
              <a:t>phải</a:t>
            </a:r>
            <a:r>
              <a:rPr lang="en-US" sz="2800" dirty="0"/>
              <a:t>, </a:t>
            </a:r>
            <a:r>
              <a:rPr lang="en-US" sz="2800" dirty="0" err="1"/>
              <a:t>phù</a:t>
            </a:r>
            <a:r>
              <a:rPr lang="en-US" sz="2800" dirty="0"/>
              <a:t> </a:t>
            </a:r>
            <a:r>
              <a:rPr lang="en-US" sz="2800" dirty="0" err="1"/>
              <a:t>hợp</a:t>
            </a:r>
            <a:r>
              <a:rPr lang="en-US" sz="2800" dirty="0"/>
              <a:t> </a:t>
            </a:r>
            <a:r>
              <a:rPr lang="en-US" sz="2800" dirty="0" err="1"/>
              <a:t>cho</a:t>
            </a:r>
            <a:r>
              <a:rPr lang="en-US" sz="2800" dirty="0"/>
              <a:t> </a:t>
            </a:r>
            <a:r>
              <a:rPr lang="en-US" sz="2800" dirty="0" err="1"/>
              <a:t>cá</a:t>
            </a:r>
            <a:r>
              <a:rPr lang="en-US" sz="2800" dirty="0"/>
              <a:t> </a:t>
            </a:r>
            <a:r>
              <a:rPr lang="en-US" sz="2800" dirty="0" err="1"/>
              <a:t>nhân</a:t>
            </a:r>
            <a:r>
              <a:rPr lang="en-US" sz="2800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380365"/>
          </a:xfrm>
        </p:spPr>
        <p:txBody>
          <a:bodyPr/>
          <a:lstStyle/>
          <a:p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2. </a:t>
            </a:r>
            <a:r>
              <a:rPr lang="en-US" altLang="en-US" sz="3600" b="1" dirty="0" err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Mục</a:t>
            </a:r>
            <a:r>
              <a:rPr lang="en-US" altLang="en-US" sz="3600" b="1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3600" b="1" dirty="0" err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tiêu</a:t>
            </a:r>
            <a:endParaRPr lang="en-US" altLang="en-US" sz="3600" b="1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143000"/>
            <a:ext cx="7886700" cy="5181600"/>
          </a:xfrm>
        </p:spPr>
        <p:txBody>
          <a:bodyPr/>
          <a:lstStyle/>
          <a:p>
            <a:pPr>
              <a:lnSpc>
                <a:spcPct val="200000"/>
              </a:lnSpc>
            </a:pPr>
            <a:r>
              <a:rPr lang="en-US" sz="2800" dirty="0" err="1">
                <a:latin typeface="Arial (Body)"/>
              </a:rPr>
              <a:t>Nghiên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cứu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xây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dựng</a:t>
            </a:r>
            <a:r>
              <a:rPr lang="en-US" sz="2800" dirty="0">
                <a:latin typeface="Arial (Body)"/>
              </a:rPr>
              <a:t> </a:t>
            </a:r>
            <a:r>
              <a:rPr lang="vi-VN" sz="2800" dirty="0">
                <a:latin typeface="Arial (Body)"/>
              </a:rPr>
              <a:t>game </a:t>
            </a:r>
            <a:r>
              <a:rPr lang="en-US" sz="2800" dirty="0" err="1">
                <a:latin typeface="Arial (Body)"/>
              </a:rPr>
              <a:t>rpg</a:t>
            </a:r>
            <a:r>
              <a:rPr lang="vi-VN" sz="2800" dirty="0">
                <a:latin typeface="Arial (Body)"/>
              </a:rPr>
              <a:t> 2D</a:t>
            </a:r>
            <a:r>
              <a:rPr lang="en-US" sz="2800" dirty="0">
                <a:latin typeface="Arial (Body)"/>
              </a:rPr>
              <a:t> top down</a:t>
            </a:r>
            <a:r>
              <a:rPr lang="vi-VN" sz="2800" dirty="0">
                <a:latin typeface="Arial (Body)"/>
              </a:rPr>
              <a:t>.</a:t>
            </a:r>
            <a:endParaRPr lang="en-US" sz="2800" dirty="0">
              <a:latin typeface="Arial (Body)"/>
            </a:endParaRPr>
          </a:p>
          <a:p>
            <a:pPr>
              <a:lnSpc>
                <a:spcPct val="200000"/>
              </a:lnSpc>
            </a:pPr>
            <a:r>
              <a:rPr lang="en-US" sz="2800" dirty="0">
                <a:latin typeface="Arial (Body)"/>
              </a:rPr>
              <a:t>Nguyên </a:t>
            </a:r>
            <a:r>
              <a:rPr lang="en-US" sz="2800" dirty="0" err="1">
                <a:latin typeface="Arial (Body)"/>
              </a:rPr>
              <a:t>cứu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cách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thiết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kế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đồ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họa</a:t>
            </a:r>
            <a:r>
              <a:rPr lang="en-US" sz="2800" dirty="0">
                <a:latin typeface="Arial (Body)"/>
              </a:rPr>
              <a:t> pixel</a:t>
            </a:r>
            <a:endParaRPr lang="vi-VN" sz="2800" dirty="0">
              <a:latin typeface="Arial (Body)"/>
            </a:endParaRPr>
          </a:p>
          <a:p>
            <a:pPr>
              <a:lnSpc>
                <a:spcPct val="200000"/>
              </a:lnSpc>
            </a:pPr>
            <a:r>
              <a:rPr lang="vi-VN" sz="2800" dirty="0">
                <a:latin typeface="Arial (Body)"/>
              </a:rPr>
              <a:t>Hoàn thiện các hệ thống </a:t>
            </a:r>
            <a:r>
              <a:rPr lang="en-US" sz="2800" dirty="0" err="1">
                <a:latin typeface="Arial (Body)"/>
              </a:rPr>
              <a:t>cơ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bản</a:t>
            </a:r>
            <a:r>
              <a:rPr lang="vi-VN" sz="2800" dirty="0">
                <a:latin typeface="Arial (Body)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9749B-A121-045C-014A-6C16C6A18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327F0-CB7D-4A30-C73A-8CEECC8BE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380365"/>
          </a:xfrm>
        </p:spPr>
        <p:txBody>
          <a:bodyPr/>
          <a:lstStyle/>
          <a:p>
            <a:r>
              <a:rPr lang="en-US" altLang="vi-VN" sz="3600" b="1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3</a:t>
            </a:r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.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Đối</a:t>
            </a:r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tượng</a:t>
            </a:r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nghi</a:t>
            </a:r>
            <a:r>
              <a:rPr lang="en-US" altLang="vi-VN" sz="3600" b="1" dirty="0" err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ên</a:t>
            </a:r>
            <a:r>
              <a:rPr lang="en-US" altLang="vi-VN" sz="3600" b="1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lang="en-US" altLang="vi-VN" sz="3600" b="1" dirty="0" err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cứu</a:t>
            </a:r>
            <a:endParaRPr lang="en-US" altLang="en-US" sz="3600" b="1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3DE03-144C-53D9-63F0-522D64F79C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143000"/>
            <a:ext cx="7886700" cy="5181600"/>
          </a:xfrm>
        </p:spPr>
        <p:txBody>
          <a:bodyPr/>
          <a:lstStyle/>
          <a:p>
            <a:pPr>
              <a:lnSpc>
                <a:spcPct val="200000"/>
              </a:lnSpc>
              <a:spcBef>
                <a:spcPts val="600"/>
              </a:spcBef>
              <a:spcAft>
                <a:spcPts val="600"/>
              </a:spcAft>
            </a:pPr>
            <a:r>
              <a:rPr lang="vi-VN" sz="2800" dirty="0"/>
              <a:t>Game nhập vai 2D góc nhìn top-down.</a:t>
            </a:r>
            <a:endParaRPr lang="en-US" sz="2800" dirty="0"/>
          </a:p>
          <a:p>
            <a:pPr>
              <a:lnSpc>
                <a:spcPct val="200000"/>
              </a:lnSpc>
              <a:spcBef>
                <a:spcPts val="600"/>
              </a:spcBef>
              <a:spcAft>
                <a:spcPts val="600"/>
              </a:spcAft>
            </a:pPr>
            <a:r>
              <a:rPr lang="vi-VN" sz="2800" dirty="0"/>
              <a:t>Godot Engine, GDScript và quy trình phát triển.</a:t>
            </a:r>
            <a:endParaRPr lang="en-US" sz="2800" dirty="0"/>
          </a:p>
          <a:p>
            <a:pPr>
              <a:lnSpc>
                <a:spcPct val="200000"/>
              </a:lnSpc>
              <a:spcBef>
                <a:spcPts val="600"/>
              </a:spcBef>
              <a:spcAft>
                <a:spcPts val="600"/>
              </a:spcAft>
            </a:pPr>
            <a:r>
              <a:rPr lang="vi-VN" sz="2800" dirty="0"/>
              <a:t>Thiết kế đồ họa pixel và âm thanh game.</a:t>
            </a:r>
          </a:p>
        </p:txBody>
      </p:sp>
    </p:spTree>
    <p:extLst>
      <p:ext uri="{BB962C8B-B14F-4D97-AF65-F5344CB8AC3E}">
        <p14:creationId xmlns:p14="http://schemas.microsoft.com/office/powerpoint/2010/main" val="17184659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CB5DB-D687-BF94-A340-D88ABF715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B2E14-9347-B566-387E-7742A3179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380365"/>
          </a:xfrm>
        </p:spPr>
        <p:txBody>
          <a:bodyPr/>
          <a:lstStyle/>
          <a:p>
            <a:r>
              <a:rPr lang="en-US" altLang="vi-VN" sz="3600" b="1" dirty="0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3</a:t>
            </a:r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. Phạm vi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nghiên</a:t>
            </a:r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cứu</a:t>
            </a:r>
            <a:endParaRPr lang="en-US" altLang="en-US" sz="3600" b="1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8816E5-EDE8-A7FA-2E61-74841DD537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143000"/>
            <a:ext cx="7886700" cy="5181600"/>
          </a:xfrm>
        </p:spPr>
        <p:txBody>
          <a:bodyPr/>
          <a:lstStyle/>
          <a:p>
            <a:pPr>
              <a:lnSpc>
                <a:spcPct val="250000"/>
              </a:lnSpc>
            </a:pPr>
            <a:r>
              <a:rPr lang="en-US" sz="2800" dirty="0" err="1">
                <a:latin typeface="Arial (Body)"/>
              </a:rPr>
              <a:t>Tập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trung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vào</a:t>
            </a:r>
            <a:r>
              <a:rPr lang="en-US" sz="2800" dirty="0">
                <a:latin typeface="Arial (Body)"/>
              </a:rPr>
              <a:t> g</a:t>
            </a:r>
            <a:r>
              <a:rPr lang="vi-VN" sz="2800" dirty="0">
                <a:latin typeface="Arial (Body)"/>
              </a:rPr>
              <a:t>ameplay và hệ thống cơ bản.</a:t>
            </a:r>
            <a:endParaRPr lang="en-US" sz="2800" dirty="0">
              <a:latin typeface="Arial (Body)"/>
            </a:endParaRPr>
          </a:p>
          <a:p>
            <a:pPr>
              <a:lnSpc>
                <a:spcPct val="250000"/>
              </a:lnSpc>
            </a:pPr>
            <a:r>
              <a:rPr lang="vi-VN" sz="2800" dirty="0">
                <a:latin typeface="Arial (Body)"/>
              </a:rPr>
              <a:t>Hai khu vực chính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là</a:t>
            </a:r>
            <a:r>
              <a:rPr lang="en-US" sz="2800" dirty="0">
                <a:latin typeface="Arial (Body)"/>
              </a:rPr>
              <a:t> </a:t>
            </a:r>
            <a:r>
              <a:rPr lang="vi-VN" sz="2800" dirty="0">
                <a:latin typeface="Arial (Body)"/>
              </a:rPr>
              <a:t>làng và </a:t>
            </a:r>
            <a:r>
              <a:rPr lang="en-US" sz="2800" dirty="0" err="1">
                <a:latin typeface="Arial (Body)"/>
              </a:rPr>
              <a:t>khu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chiến</a:t>
            </a:r>
            <a:r>
              <a:rPr lang="en-US" sz="2800" dirty="0">
                <a:latin typeface="Arial (Body)"/>
              </a:rPr>
              <a:t> </a:t>
            </a:r>
            <a:r>
              <a:rPr lang="en-US" sz="2800" dirty="0" err="1">
                <a:latin typeface="Arial (Body)"/>
              </a:rPr>
              <a:t>đấu</a:t>
            </a:r>
            <a:r>
              <a:rPr lang="vi-VN" sz="2800" dirty="0">
                <a:latin typeface="Arial (Body)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276878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18349-0E9B-9F7F-9E06-6D53FC4B3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47435-81F8-064D-E0E2-D76494D29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380365"/>
          </a:xfrm>
        </p:spPr>
        <p:txBody>
          <a:bodyPr/>
          <a:lstStyle/>
          <a:p>
            <a:r>
              <a:rPr lang="en-US" altLang="vi-VN" sz="3600" b="1" noProof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4. Công nghệ sử dụng</a:t>
            </a:r>
            <a:endParaRPr lang="en-US" altLang="en-US" sz="3600" b="1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268F0A-A057-5087-6889-729C2029A4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117090"/>
            <a:ext cx="2286000" cy="228600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AD5033D-7C12-8947-A5A8-C3724C1E0FC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116" y="2117090"/>
            <a:ext cx="2286000" cy="2286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669BAFD-E451-83D2-B168-DF59C176D14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7157" y="2117090"/>
            <a:ext cx="1608193" cy="2286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D81D0C8-31AB-EC66-747E-38715BE83A6C}"/>
              </a:ext>
            </a:extLst>
          </p:cNvPr>
          <p:cNvSpPr txBox="1"/>
          <p:nvPr/>
        </p:nvSpPr>
        <p:spPr>
          <a:xfrm>
            <a:off x="905138" y="4520625"/>
            <a:ext cx="13901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Godot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D4E240-F311-CB28-E9FC-283C88FD1E05}"/>
              </a:ext>
            </a:extLst>
          </p:cNvPr>
          <p:cNvSpPr txBox="1"/>
          <p:nvPr/>
        </p:nvSpPr>
        <p:spPr>
          <a:xfrm>
            <a:off x="4176507" y="4520625"/>
            <a:ext cx="11192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Krita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CB2656-EBA4-8904-3824-9BAEC566C816}"/>
              </a:ext>
            </a:extLst>
          </p:cNvPr>
          <p:cNvSpPr txBox="1"/>
          <p:nvPr/>
        </p:nvSpPr>
        <p:spPr>
          <a:xfrm>
            <a:off x="6608390" y="4520624"/>
            <a:ext cx="22057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FL Studio</a:t>
            </a:r>
          </a:p>
        </p:txBody>
      </p:sp>
    </p:spTree>
    <p:extLst>
      <p:ext uri="{BB962C8B-B14F-4D97-AF65-F5344CB8AC3E}">
        <p14:creationId xmlns:p14="http://schemas.microsoft.com/office/powerpoint/2010/main" val="2431714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28715-F5AC-984B-80E6-40D876A65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96292-8236-0D4D-41C1-3CDAF8B84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380365"/>
          </a:xfrm>
        </p:spPr>
        <p:txBody>
          <a:bodyPr/>
          <a:lstStyle/>
          <a:p>
            <a:r>
              <a:rPr lang="en-US" altLang="vi-VN" sz="3600" b="1" noProof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5. Sơ đồ use case</a:t>
            </a:r>
            <a:endParaRPr lang="en-US" altLang="en-US" sz="3600" b="1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776843C-0DE5-ED3E-D97E-6216A11F74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825" y="1066800"/>
            <a:ext cx="7372350" cy="51453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301608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88927-BE08-D3AA-10BC-95E2986B0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A236E-94C8-9EBC-A36C-3913DD5CA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380365"/>
          </a:xfrm>
        </p:spPr>
        <p:txBody>
          <a:bodyPr/>
          <a:lstStyle/>
          <a:p>
            <a:r>
              <a:rPr lang="en-US" altLang="vi-VN" sz="3600" b="1" noProof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5. Sơ đồ use case</a:t>
            </a:r>
            <a:endParaRPr lang="en-US" altLang="en-US" sz="3600" b="1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2CA037-3597-6588-FC89-530C35A997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031" y="1562100"/>
            <a:ext cx="7971938" cy="3733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871133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F6B42-8D26-E00D-FAA0-2CD2A31D1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DF84A-DD52-2210-4282-2E70FCE0D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380365"/>
          </a:xfrm>
        </p:spPr>
        <p:txBody>
          <a:bodyPr/>
          <a:lstStyle/>
          <a:p>
            <a:r>
              <a:rPr lang="en-US" altLang="vi-VN" sz="3600" b="1" noProof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5. Sơ đồ use case</a:t>
            </a:r>
            <a:endParaRPr lang="en-US" altLang="en-US" sz="3600" b="1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357313-2716-D731-09DC-E44D184FC2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401" y="1219200"/>
            <a:ext cx="7455198" cy="47244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95284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9BF02-11F0-5D43-088A-0B618D0EE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2F130-3831-00E2-DF59-4DB3BF924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380365"/>
          </a:xfrm>
        </p:spPr>
        <p:txBody>
          <a:bodyPr/>
          <a:lstStyle/>
          <a:p>
            <a:r>
              <a:rPr lang="en-US" altLang="vi-VN" sz="3600" b="1" noProof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5. Sơ đồ use case</a:t>
            </a:r>
            <a:endParaRPr lang="en-US" altLang="en-US" sz="3600" b="1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98A34A-F52B-EA15-F7A2-DB8508FA6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9637" y="1219200"/>
            <a:ext cx="7044725" cy="48006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092042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58205-C1F8-53F8-6792-DAA5EEADD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069AC-C40E-EFC5-848B-7F042A815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380365"/>
          </a:xfrm>
        </p:spPr>
        <p:txBody>
          <a:bodyPr/>
          <a:lstStyle/>
          <a:p>
            <a:r>
              <a:rPr lang="en-US" altLang="vi-VN" sz="3600" b="1" noProof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5. Sơ đồ use case</a:t>
            </a:r>
            <a:endParaRPr lang="en-US" altLang="en-US" sz="3600" b="1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98F83F-96ED-4C54-369A-533BF9EA90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821" y="1294164"/>
            <a:ext cx="7722357" cy="426967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522172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A0CCD-6FE5-4E07-8EC0-C8BBE1BD1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0C066-A67B-5B50-0EC6-A2E99D724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380365"/>
          </a:xfrm>
        </p:spPr>
        <p:txBody>
          <a:bodyPr/>
          <a:lstStyle/>
          <a:p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6.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Kết</a:t>
            </a:r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quả</a:t>
            </a:r>
            <a:endParaRPr lang="en-US" altLang="en-US" sz="3600" b="1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1F0F7F-9DCC-9C97-9D9F-9536A130D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4719" y="1075557"/>
            <a:ext cx="4574562" cy="4706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567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94FDA-1C34-31FB-9592-25720CB7A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52DCD-DEB7-E73A-5C72-9D370DB81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380365"/>
          </a:xfrm>
        </p:spPr>
        <p:txBody>
          <a:bodyPr/>
          <a:lstStyle/>
          <a:p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6.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Kết</a:t>
            </a:r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quả</a:t>
            </a:r>
            <a:endParaRPr lang="en-US" altLang="en-US" sz="3600" b="1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55A000-FC5D-E49E-910D-3F943A0F7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457" y="1221322"/>
            <a:ext cx="4363085" cy="4415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0234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00EDF-DAC3-2DC0-2DD8-19AB7CC2A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0414F-7F20-9AF6-24BA-713FAB77CB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380365"/>
          </a:xfrm>
        </p:spPr>
        <p:txBody>
          <a:bodyPr/>
          <a:lstStyle/>
          <a:p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6.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Kết</a:t>
            </a:r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quả</a:t>
            </a:r>
            <a:endParaRPr lang="en-US" altLang="en-US" sz="3600" b="1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844877-E555-8DAA-654E-D9826EA2C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450" y="1196340"/>
            <a:ext cx="4483100" cy="4465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5211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66CE0-55AF-5441-A6B1-932FADCCC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3D744-21E0-F99D-CE78-1C4067333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380365"/>
          </a:xfrm>
        </p:spPr>
        <p:txBody>
          <a:bodyPr/>
          <a:lstStyle/>
          <a:p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6.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Kết</a:t>
            </a:r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quả</a:t>
            </a:r>
            <a:endParaRPr lang="en-US" altLang="en-US" sz="3600" b="1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3EE7CB-9B17-D6F8-30A9-DA7E71A3D8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6229" y="1219200"/>
            <a:ext cx="4791541" cy="4800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2208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39196-6F1A-FE23-089E-1BD1D2825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8E931-AD88-34F4-3FA6-E89B0BB11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380365"/>
          </a:xfrm>
        </p:spPr>
        <p:txBody>
          <a:bodyPr/>
          <a:lstStyle/>
          <a:p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6.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Kết</a:t>
            </a:r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quả</a:t>
            </a:r>
            <a:endParaRPr lang="en-US" altLang="en-US" sz="3600" b="1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7C06F-BF94-542D-75EC-669184930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2057400"/>
            <a:ext cx="2748659" cy="2743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674333-4DBA-9D0E-9C4C-A8E21B053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7695" y="2057400"/>
            <a:ext cx="2748610" cy="2743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3D1D8D-EFD1-C87C-081E-C647DF8A6A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6693" y="2057400"/>
            <a:ext cx="2737801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459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D4CD3-F1A4-739D-6064-6BB917A39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9D148-C5E4-BCF8-E76E-D24A9904E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380365"/>
          </a:xfrm>
        </p:spPr>
        <p:txBody>
          <a:bodyPr/>
          <a:lstStyle/>
          <a:p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6.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Kết</a:t>
            </a:r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quả</a:t>
            </a:r>
            <a:endParaRPr lang="en-US" altLang="en-US" sz="3600" b="1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0592BF-06BB-A649-23AC-6678F9F21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876" y="1447800"/>
            <a:ext cx="8250248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456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79476-28EB-3CD1-7CD7-C2A83C89B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E39DB-3231-F3D5-5233-122358294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380365"/>
          </a:xfrm>
        </p:spPr>
        <p:txBody>
          <a:bodyPr/>
          <a:lstStyle/>
          <a:p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6.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Kết</a:t>
            </a:r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quả</a:t>
            </a:r>
            <a:endParaRPr lang="en-US" altLang="en-US" sz="3600" b="1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CED5A3-6C88-8273-D76F-6FCA837CA0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912" y="1991677"/>
            <a:ext cx="5972175" cy="2874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3956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364FB-2885-8C60-5B02-87439A227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E219A-4166-0E6B-FE00-B7152AF3E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380365"/>
          </a:xfrm>
        </p:spPr>
        <p:txBody>
          <a:bodyPr/>
          <a:lstStyle/>
          <a:p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6.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Kết</a:t>
            </a:r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quả</a:t>
            </a:r>
            <a:endParaRPr lang="en-US" altLang="en-US" sz="3600" b="1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2ABA2C-5940-3955-BC2D-C40E511B2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38" y="1449324"/>
            <a:ext cx="8295323" cy="3959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96612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9FE53-881E-34AA-43A3-E6621F8F8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5E24E-A5E0-0FA7-07FA-10C257DF4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380365"/>
          </a:xfrm>
        </p:spPr>
        <p:txBody>
          <a:bodyPr/>
          <a:lstStyle/>
          <a:p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6.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Kết</a:t>
            </a:r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quả</a:t>
            </a:r>
            <a:endParaRPr lang="en-US" altLang="en-US" sz="3600" b="1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AFE3A4-8D0F-88FE-921A-26E93E7C2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878" y="1449324"/>
            <a:ext cx="8220244" cy="3959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062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8B26B-7694-30D9-8A72-A53ABDEF4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9AC2-3444-5999-7CC3-E60F3F23D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380365"/>
          </a:xfrm>
        </p:spPr>
        <p:txBody>
          <a:bodyPr/>
          <a:lstStyle/>
          <a:p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6.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Kết</a:t>
            </a:r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quả</a:t>
            </a:r>
            <a:endParaRPr lang="en-US" altLang="en-US" sz="3600" b="1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619F4A-3A2A-3F0D-CB29-0BD9C9BDCF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154" y="1449324"/>
            <a:ext cx="8225692" cy="3959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9128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65DB5-7BAA-965F-438B-786092D52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8D443-31BA-86FF-D0CF-BD6354874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380365"/>
          </a:xfrm>
        </p:spPr>
        <p:txBody>
          <a:bodyPr/>
          <a:lstStyle/>
          <a:p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7.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Hướng</a:t>
            </a:r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phát</a:t>
            </a:r>
            <a:r>
              <a:rPr lang="en-US" altLang="vi-VN" sz="3600" b="1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lang="en-US" altLang="vi-VN" sz="3600" b="1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triển</a:t>
            </a:r>
            <a:endParaRPr lang="en-US" altLang="en-US" sz="3600" b="1" dirty="0">
              <a:solidFill>
                <a:schemeClr val="accent5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C5E91D-7CC8-DF93-E452-4B504842F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143000"/>
            <a:ext cx="7886700" cy="5181600"/>
          </a:xfrm>
        </p:spPr>
        <p:txBody>
          <a:bodyPr/>
          <a:lstStyle/>
          <a:p>
            <a:pPr>
              <a:lnSpc>
                <a:spcPct val="250000"/>
              </a:lnSpc>
            </a:pPr>
            <a:r>
              <a:rPr lang="vi-VN" sz="2800" dirty="0">
                <a:latin typeface="Arial (Body)"/>
              </a:rPr>
              <a:t>Mở rộng bản đồ, cốt truyện, nhiệm vụ</a:t>
            </a:r>
            <a:r>
              <a:rPr lang="en-US" sz="2800" dirty="0">
                <a:latin typeface="Arial (Body)"/>
              </a:rPr>
              <a:t>.</a:t>
            </a:r>
          </a:p>
          <a:p>
            <a:pPr>
              <a:lnSpc>
                <a:spcPct val="250000"/>
              </a:lnSpc>
            </a:pPr>
            <a:r>
              <a:rPr lang="vi-VN" sz="2800" dirty="0">
                <a:latin typeface="Arial (Body)"/>
              </a:rPr>
              <a:t>Nâng cấp chiến đấu, AI, đồ họa và âm thanh.</a:t>
            </a:r>
          </a:p>
        </p:txBody>
      </p:sp>
    </p:spTree>
    <p:extLst>
      <p:ext uri="{BB962C8B-B14F-4D97-AF65-F5344CB8AC3E}">
        <p14:creationId xmlns:p14="http://schemas.microsoft.com/office/powerpoint/2010/main" val="42296326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Number Placeholder 3"/>
          <p:cNvSpPr txBox="1">
            <a:spLocks noGrp="1"/>
          </p:cNvSpPr>
          <p:nvPr>
            <p:ph type="sldNum" sz="quarter" idx="4"/>
          </p:nvPr>
        </p:nvSpPr>
        <p:spPr>
          <a:xfrm>
            <a:off x="6457950" y="6400800"/>
            <a:ext cx="2686050" cy="365125"/>
          </a:xfrm>
          <a:noFill/>
          <a:ln>
            <a:noFill/>
          </a:ln>
        </p:spPr>
        <p:txBody>
          <a:bodyPr anchor="ctr" anchorCtr="0"/>
          <a:lstStyle>
            <a:lvl1pPr marL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b="0" i="0" u="none" kern="120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lvl="2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lvl="3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lvl="4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</a:lstStyle>
          <a:p>
            <a:pPr lvl="0" algn="r" eaLnBrk="1" hangingPunct="1"/>
            <a:fld id="{9A0DB2DC-4C9A-4742-B13C-FB6460FD3503}" type="slidenum">
              <a:rPr lang="en-US" altLang="en-US" sz="900" dirty="0"/>
              <a:t>24</a:t>
            </a:fld>
            <a:endParaRPr lang="en-US" altLang="en-US" sz="900" dirty="0"/>
          </a:p>
        </p:txBody>
      </p:sp>
      <p:sp>
        <p:nvSpPr>
          <p:cNvPr id="2" name="Text Box 1"/>
          <p:cNvSpPr txBox="1"/>
          <p:nvPr/>
        </p:nvSpPr>
        <p:spPr>
          <a:xfrm>
            <a:off x="990600" y="2743200"/>
            <a:ext cx="714438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en-US" sz="3600" dirty="0" err="1"/>
              <a:t>Cảm</a:t>
            </a:r>
            <a:r>
              <a:rPr lang="en-US" altLang="en-US" sz="3600" dirty="0"/>
              <a:t> </a:t>
            </a:r>
            <a:r>
              <a:rPr lang="en-US" altLang="en-US" sz="3600" dirty="0" err="1"/>
              <a:t>ơn</a:t>
            </a:r>
            <a:r>
              <a:rPr lang="en-US" altLang="en-US" sz="3600" dirty="0"/>
              <a:t> </a:t>
            </a:r>
            <a:r>
              <a:rPr lang="en-US" altLang="en-US" sz="3600" dirty="0" err="1"/>
              <a:t>sự</a:t>
            </a:r>
            <a:r>
              <a:rPr lang="en-US" altLang="en-US" sz="3600" dirty="0"/>
              <a:t> </a:t>
            </a:r>
            <a:r>
              <a:rPr lang="en-US" altLang="en-US" sz="3600" dirty="0" err="1"/>
              <a:t>chú</a:t>
            </a:r>
            <a:r>
              <a:rPr lang="en-US" altLang="en-US" sz="3600" dirty="0"/>
              <a:t> ý </a:t>
            </a:r>
            <a:r>
              <a:rPr lang="en-US" altLang="en-US" sz="3600" dirty="0" err="1"/>
              <a:t>lắng</a:t>
            </a:r>
            <a:r>
              <a:rPr lang="en-US" altLang="en-US" sz="3600" dirty="0"/>
              <a:t> </a:t>
            </a:r>
            <a:r>
              <a:rPr lang="en-US" altLang="en-US" sz="3600" dirty="0" err="1"/>
              <a:t>nghe</a:t>
            </a:r>
            <a:r>
              <a:rPr lang="en-US" altLang="en-US" sz="3600" dirty="0"/>
              <a:t> </a:t>
            </a:r>
          </a:p>
          <a:p>
            <a:pPr algn="ctr"/>
            <a:r>
              <a:rPr lang="en-US" altLang="en-US" sz="3600" dirty="0" err="1"/>
              <a:t>của</a:t>
            </a:r>
            <a:r>
              <a:rPr lang="en-US" altLang="en-US" sz="3600" dirty="0"/>
              <a:t> </a:t>
            </a:r>
            <a:r>
              <a:rPr lang="en-US" altLang="en-US" sz="3600" dirty="0" err="1"/>
              <a:t>Thầy</a:t>
            </a:r>
            <a:r>
              <a:rPr lang="en-US" altLang="en-US" sz="3600" dirty="0"/>
              <a:t> </a:t>
            </a:r>
            <a:r>
              <a:rPr lang="en-US" altLang="en-US" sz="3600" dirty="0" err="1"/>
              <a:t>và</a:t>
            </a:r>
            <a:r>
              <a:rPr lang="en-US" altLang="en-US" sz="3600" dirty="0"/>
              <a:t> </a:t>
            </a:r>
            <a:r>
              <a:rPr lang="en-US" altLang="en-US" sz="3600" dirty="0" err="1"/>
              <a:t>các</a:t>
            </a:r>
            <a:r>
              <a:rPr lang="en-US" altLang="en-US" sz="3600" dirty="0"/>
              <a:t> </a:t>
            </a:r>
            <a:r>
              <a:rPr lang="en-US" altLang="en-US" sz="3600" dirty="0" err="1"/>
              <a:t>bạn</a:t>
            </a:r>
            <a:r>
              <a:rPr lang="en-US" altLang="en-US" sz="3600" dirty="0"/>
              <a:t>!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3030855" y="93662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4" name="Text Box 1"/>
          <p:cNvSpPr txBox="1"/>
          <p:nvPr/>
        </p:nvSpPr>
        <p:spPr>
          <a:xfrm>
            <a:off x="999807" y="1278031"/>
            <a:ext cx="714438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altLang="en-US" sz="360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NEXTUNIQUEID" val="10009"/>
  <p:tag name="MMPROD_UIDATA" val="&lt;database version=&quot;7.0&quot;&gt;&lt;object type=&quot;1&quot; unique_id=&quot;10001&quot;&gt;&lt;object type=&quot;8&quot; unique_id=&quot;10002&quot;&gt;&lt;/object&gt;&lt;object type=&quot;2&quot; unique_id=&quot;10003&quot;&gt;&lt;object type=&quot;3&quot; unique_id=&quot;10004&quot;&gt;&lt;property id=&quot;20148&quot; value=&quot;5&quot;/&gt;&lt;property id=&quot;20300&quot; value=&quot;Slide 1&quot;/&gt;&lt;property id=&quot;20307&quot; value=&quot;256&quot;/&gt;&lt;/object&gt;&lt;object type=&quot;3&quot; unique_id=&quot;10549&quot;&gt;&lt;property id=&quot;20148&quot; value=&quot;5&quot;/&gt;&lt;property id=&quot;20300&quot; value=&quot;Slide 2 - &amp;quot;Kỹ thuật ước lượng và đánh giá&amp;#x0D;&amp;#x0A;Ước lượng khoa học&amp;quot;&quot;/&gt;&lt;property id=&quot;20307&quot; value=&quot;257&quot;/&gt;&lt;/object&gt;&lt;object type=&quot;3&quot; unique_id=&quot;10551&quot;&gt;&lt;property id=&quot;20148&quot; value=&quot;5&quot;/&gt;&lt;property id=&quot;20300&quot; value=&quot;Slide 3 - &amp;quot;Các kỹ thuật làm ước lượng&amp;quot;&quot;/&gt;&lt;property id=&quot;20307&quot; value=&quot;259&quot;/&gt;&lt;/object&gt;&lt;object type=&quot;3&quot; unique_id=&quot;10552&quot;&gt;&lt;property id=&quot;20148&quot; value=&quot;5&quot;/&gt;&lt;property id=&quot;20300&quot; value=&quot;Slide 4 - &amp;quot;Các kỹ thuật làm ước lượng&amp;quot;&quot;/&gt;&lt;property id=&quot;20307&quot; value=&quot;260&quot;/&gt;&lt;/object&gt;&lt;object type=&quot;3&quot; unique_id=&quot;10553&quot;&gt;&lt;property id=&quot;20148&quot; value=&quot;5&quot;/&gt;&lt;property id=&quot;20300&quot; value=&quot;Slide 5 - &amp;quot;Các kỹ thuật làm ước lượng&amp;quot;&quot;/&gt;&lt;property id=&quot;20307&quot; value=&quot;261&quot;/&gt;&lt;/object&gt;&lt;object type=&quot;3&quot; unique_id=&quot;10554&quot;&gt;&lt;property id=&quot;20148&quot; value=&quot;5&quot;/&gt;&lt;property id=&quot;20300&quot; value=&quot;Slide 6 - &amp;quot;Các kỹ thuật làm ước lượng&amp;quot;&quot;/&gt;&lt;property id=&quot;20307&quot; value=&quot;262&quot;/&gt;&lt;/object&gt;&lt;object type=&quot;3&quot; unique_id=&quot;10555&quot;&gt;&lt;property id=&quot;20148&quot; value=&quot;5&quot;/&gt;&lt;property id=&quot;20300&quot; value=&quot;Slide 7 - &amp;quot;Các kỹ thuật làm ước lượng&amp;quot;&quot;/&gt;&lt;property id=&quot;20307&quot; value=&quot;263&quot;/&gt;&lt;/object&gt;&lt;object type=&quot;3&quot; unique_id=&quot;10556&quot;&gt;&lt;property id=&quot;20148&quot; value=&quot;5&quot;/&gt;&lt;property id=&quot;20300&quot; value=&quot;Slide 8 - &amp;quot;Các kỹ thuật làm ước lượng&amp;quot;&quot;/&gt;&lt;property id=&quot;20307&quot; value=&quot;264&quot;/&gt;&lt;/object&gt;&lt;object type=&quot;3&quot; unique_id=&quot;10557&quot;&gt;&lt;property id=&quot;20148&quot; value=&quot;5&quot;/&gt;&lt;property id=&quot;20300&quot; value=&quot;Slide 9 - &amp;quot;Các kỹ thuật làm ước lượng&amp;quot;&quot;/&gt;&lt;property id=&quot;20307&quot; value=&quot;265&quot;/&gt;&lt;/object&gt;&lt;object type=&quot;3&quot; unique_id=&quot;10558&quot;&gt;&lt;property id=&quot;20148&quot; value=&quot;5&quot;/&gt;&lt;property id=&quot;20300&quot; value=&quot;Slide 10 - &amp;quot;Các kỹ thuật làm ước lượng&amp;quot;&quot;/&gt;&lt;property id=&quot;20307&quot; value=&quot;266&quot;/&gt;&lt;/object&gt;&lt;object type=&quot;3&quot; unique_id=&quot;10559&quot;&gt;&lt;property id=&quot;20148&quot; value=&quot;5&quot;/&gt;&lt;property id=&quot;20300&quot; value=&quot;Slide 11 - &amp;quot;Các kỹ thuật làm ước lượng&amp;quot;&quot;/&gt;&lt;property id=&quot;20307&quot; value=&quot;267&quot;/&gt;&lt;/object&gt;&lt;object type=&quot;3&quot; unique_id=&quot;10560&quot;&gt;&lt;property id=&quot;20148&quot; value=&quot;5&quot;/&gt;&lt;property id=&quot;20300&quot; value=&quot;Slide 12 - &amp;quot;Các bước khi làm ước lượng&amp;quot;&quot;/&gt;&lt;property id=&quot;20307&quot; value=&quot;268&quot;/&gt;&lt;/object&gt;&lt;object type=&quot;3&quot; unique_id=&quot;10561&quot;&gt;&lt;property id=&quot;20148&quot; value=&quot;5&quot;/&gt;&lt;property id=&quot;20300&quot; value=&quot;Slide 13 - &amp;quot;Các bước khi làm ước lượng&amp;quot;&quot;/&gt;&lt;property id=&quot;20307&quot; value=&quot;269&quot;/&gt;&lt;/object&gt;&lt;object type=&quot;3&quot; unique_id=&quot;10563&quot;&gt;&lt;property id=&quot;20148&quot; value=&quot;5&quot;/&gt;&lt;property id=&quot;20300&quot; value=&quot;Slide 14 - &amp;quot;Các bước khi làm ước lượng&amp;quot;&quot;/&gt;&lt;property id=&quot;20307&quot; value=&quot;271&quot;/&gt;&lt;/object&gt;&lt;object type=&quot;3&quot; unique_id=&quot;10565&quot;&gt;&lt;property id=&quot;20148&quot; value=&quot;5&quot;/&gt;&lt;property id=&quot;20300&quot; value=&quot;Slide 15 - &amp;quot;Một số hướng dẫn trợ giúp ước lượng thời gian cho dự án CNTT&amp;quot;&quot;/&gt;&lt;property id=&quot;20307&quot; value=&quot;273&quot;/&gt;&lt;/object&gt;&lt;object type=&quot;3&quot; unique_id=&quot;10566&quot;&gt;&lt;property id=&quot;20148&quot; value=&quot;5&quot;/&gt;&lt;property id=&quot;20300&quot; value=&quot;Slide 16 - &amp;quot;Một số hướng dẫn trợ giúp ước lượng thời gian cho dự án CNTT&amp;quot;&quot;/&gt;&lt;property id=&quot;20307&quot; value=&quot;274&quot;/&gt;&lt;/object&gt;&lt;object type=&quot;3&quot; unique_id=&quot;10567&quot;&gt;&lt;property id=&quot;20148&quot; value=&quot;5&quot;/&gt;&lt;property id=&quot;20300&quot; value=&quot;Slide 17 - &amp;quot;Một số hướng dẫn trợ giúp ước lượng thời gian cho dự án CNTT&amp;quot;&quot;/&gt;&lt;property id=&quot;20307&quot; value=&quot;275&quot;/&gt;&lt;/object&gt;&lt;object type=&quot;3&quot; unique_id=&quot;10568&quot;&gt;&lt;property id=&quot;20148&quot; value=&quot;5&quot;/&gt;&lt;property id=&quot;20300&quot; value=&quot;Slide 18 - &amp;quot;Một số hướng dẫn trợ giúp ước lượng thời gian cho dự án CNTT&amp;quot;&quot;/&gt;&lt;property id=&quot;20307&quot; value=&quot;276&quot;/&gt;&lt;/object&gt;&lt;object type=&quot;3&quot; unique_id=&quot;10591&quot;&gt;&lt;property id=&quot;20148&quot; value=&quot;5&quot;/&gt;&lt;property id=&quot;20300&quot; value=&quot;Slide 19 - &amp;quot;Ước lượng phi khoa học&amp;quot;&quot;/&gt;&lt;property id=&quot;20307&quot; value=&quot;277&quot;/&gt;&lt;/object&gt;&lt;/object&gt;&lt;/object&gt;&lt;/database&gt;"/>
  <p:tag name="SECTOMILLISECCONVERTED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352</Words>
  <Application>Microsoft Office PowerPoint</Application>
  <PresentationFormat>On-screen Show (4:3)</PresentationFormat>
  <Paragraphs>70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Arial (Body)</vt:lpstr>
      <vt:lpstr>Calibri</vt:lpstr>
      <vt:lpstr>Calibri Light</vt:lpstr>
      <vt:lpstr>Office Theme</vt:lpstr>
      <vt:lpstr>PowerPoint Presentation</vt:lpstr>
      <vt:lpstr>Nội Dung Báo Cáo</vt:lpstr>
      <vt:lpstr>1. Lý do chọn đề tài</vt:lpstr>
      <vt:lpstr>2. Mục tiêu</vt:lpstr>
      <vt:lpstr>3. Đối tượng nghiên cứu</vt:lpstr>
      <vt:lpstr>3. Phạm vi nghiên cứu</vt:lpstr>
      <vt:lpstr>4. Công nghệ sử dụng</vt:lpstr>
      <vt:lpstr>5. Sơ đồ use case</vt:lpstr>
      <vt:lpstr>5. Sơ đồ use case</vt:lpstr>
      <vt:lpstr>5. Sơ đồ use case</vt:lpstr>
      <vt:lpstr>5. Sơ đồ use case</vt:lpstr>
      <vt:lpstr>5. Sơ đồ use case</vt:lpstr>
      <vt:lpstr>6. Kết quả</vt:lpstr>
      <vt:lpstr>6. Kết quả</vt:lpstr>
      <vt:lpstr>6. Kết quả</vt:lpstr>
      <vt:lpstr>6. Kết quả</vt:lpstr>
      <vt:lpstr>6. Kết quả</vt:lpstr>
      <vt:lpstr>6. Kết quả</vt:lpstr>
      <vt:lpstr>6. Kết quả</vt:lpstr>
      <vt:lpstr>6. Kết quả</vt:lpstr>
      <vt:lpstr>6. Kết quả</vt:lpstr>
      <vt:lpstr>6. Kết quả</vt:lpstr>
      <vt:lpstr>7. Hướng phát triển</vt:lpstr>
      <vt:lpstr>PowerPoint Presentation</vt:lpstr>
    </vt:vector>
  </TitlesOfParts>
  <Company>Tel : 0918085180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quoc khang</cp:lastModifiedBy>
  <cp:revision>142</cp:revision>
  <dcterms:created xsi:type="dcterms:W3CDTF">2011-07-26T06:52:00Z</dcterms:created>
  <dcterms:modified xsi:type="dcterms:W3CDTF">2026-06-28T19:00:00Z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A1DDEB5024DF4C96851DF96B081D99A9_13</vt:lpwstr>
  </property>
  <property fmtid="{D5CDD505-2E9C-101B-9397-08002B2CF9AE}" pid="3" name="KSOProductBuildVer">
    <vt:lpwstr>1033-12.2.0.23155</vt:lpwstr>
  </property>
</Properties>
</file>